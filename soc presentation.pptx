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Roboto" charset="1" panose="02000000000000000000"/>
      <p:regular r:id="rId12"/>
    </p:embeddedFont>
    <p:embeddedFont>
      <p:font typeface="Roboto Bold" charset="1" panose="02000000000000000000"/>
      <p:regular r:id="rId13"/>
    </p:embeddedFont>
    <p:embeddedFont>
      <p:font typeface="Roboto Bold Italics" charset="1" panose="02000000000000000000"/>
      <p:regular r:id="rId14"/>
    </p:embeddedFont>
    <p:embeddedFont>
      <p:font typeface="Canva Sans" charset="1" panose="020B0503030501040103"/>
      <p:regular r:id="rId15"/>
    </p:embeddedFont>
    <p:embeddedFont>
      <p:font typeface="Arimo" charset="1" panose="020B0604020202020204"/>
      <p:regular r:id="rId16"/>
    </p:embeddedFont>
    <p:embeddedFont>
      <p:font typeface="Canva Sans Bold" charset="1" panose="020B0803030501040103"/>
      <p:regular r:id="rId17"/>
    </p:embeddedFont>
    <p:embeddedFont>
      <p:font typeface="Trend Sans One" charset="1" panose="00000000000000000000"/>
      <p:regular r:id="rId18"/>
    </p:embeddedFont>
    <p:embeddedFont>
      <p:font typeface="Trend Slab Four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90898"/>
            <a:ext cx="18288000" cy="6792204"/>
            <a:chOff x="0" y="0"/>
            <a:chExt cx="6186311" cy="2297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2297610"/>
            </a:xfrm>
            <a:custGeom>
              <a:avLst/>
              <a:gdLst/>
              <a:ahLst/>
              <a:cxnLst/>
              <a:rect r="r" b="b" t="t" l="l"/>
              <a:pathLst>
                <a:path h="2297610" w="6186311">
                  <a:moveTo>
                    <a:pt x="6061851" y="2297610"/>
                  </a:moveTo>
                  <a:lnTo>
                    <a:pt x="124460" y="2297610"/>
                  </a:lnTo>
                  <a:cubicBezTo>
                    <a:pt x="55880" y="2297610"/>
                    <a:pt x="0" y="2241730"/>
                    <a:pt x="0" y="217315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61851" y="0"/>
                  </a:lnTo>
                  <a:cubicBezTo>
                    <a:pt x="6130431" y="0"/>
                    <a:pt x="6186311" y="55880"/>
                    <a:pt x="6186311" y="124460"/>
                  </a:cubicBezTo>
                  <a:lnTo>
                    <a:pt x="6186311" y="2173150"/>
                  </a:lnTo>
                  <a:cubicBezTo>
                    <a:pt x="6186311" y="2241730"/>
                    <a:pt x="6130431" y="2297610"/>
                    <a:pt x="6061851" y="2297610"/>
                  </a:cubicBezTo>
                  <a:close/>
                </a:path>
              </a:pathLst>
            </a:custGeom>
            <a:solidFill>
              <a:srgbClr val="F6D8B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0208" y="344968"/>
            <a:ext cx="5240739" cy="8229600"/>
            <a:chOff x="0" y="0"/>
            <a:chExt cx="6065670" cy="952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6567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06567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06233" y="0"/>
                    <a:pt x="460991" y="0"/>
                  </a:cubicBezTo>
                  <a:lnTo>
                    <a:pt x="5604679" y="0"/>
                  </a:lnTo>
                  <a:cubicBezTo>
                    <a:pt x="5859437" y="0"/>
                    <a:pt x="6065670" y="217170"/>
                    <a:pt x="6065670" y="482600"/>
                  </a:cubicBezTo>
                  <a:lnTo>
                    <a:pt x="6065670" y="9042400"/>
                  </a:lnTo>
                  <a:cubicBezTo>
                    <a:pt x="6065670" y="9309100"/>
                    <a:pt x="5859437" y="9525000"/>
                    <a:pt x="5604679" y="9525000"/>
                  </a:cubicBezTo>
                  <a:lnTo>
                    <a:pt x="460991" y="9525000"/>
                  </a:lnTo>
                  <a:cubicBezTo>
                    <a:pt x="207446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2"/>
              <a:stretch>
                <a:fillRect l="-231371" t="0" r="-27232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850619" y="738377"/>
            <a:ext cx="817361" cy="822954"/>
            <a:chOff x="0" y="0"/>
            <a:chExt cx="1089815" cy="10972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9815" cy="1097272"/>
            </a:xfrm>
            <a:custGeom>
              <a:avLst/>
              <a:gdLst/>
              <a:ahLst/>
              <a:cxnLst/>
              <a:rect r="r" b="b" t="t" l="l"/>
              <a:pathLst>
                <a:path h="1097272" w="1089815">
                  <a:moveTo>
                    <a:pt x="0" y="0"/>
                  </a:moveTo>
                  <a:lnTo>
                    <a:pt x="1089815" y="0"/>
                  </a:lnTo>
                  <a:lnTo>
                    <a:pt x="1089815" y="1097272"/>
                  </a:lnTo>
                  <a:lnTo>
                    <a:pt x="0" y="1097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05" t="0" r="-405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218035" y="320354"/>
              <a:ext cx="729946" cy="453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30"/>
                </a:lnSpc>
              </a:pPr>
              <a:r>
                <a:rPr lang="en-US" sz="2100" spc="-63">
                  <a:solidFill>
                    <a:srgbClr val="E45F14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685241" y="2740983"/>
            <a:ext cx="9165378" cy="103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true">
                <a:solidFill>
                  <a:srgbClr val="E45F14"/>
                </a:solidFill>
                <a:latin typeface="Roboto Bold"/>
                <a:ea typeface="Roboto Bold"/>
                <a:cs typeface="Roboto Bold"/>
                <a:sym typeface="Roboto Bold"/>
              </a:rPr>
              <a:t>Md Jahangir Alam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85241" y="1140329"/>
            <a:ext cx="5555904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Presentation By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19615" y="4102898"/>
            <a:ext cx="3986290" cy="75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0"/>
              </a:lnSpc>
              <a:spcBef>
                <a:spcPct val="0"/>
              </a:spcBef>
            </a:pPr>
            <a:r>
              <a:rPr lang="en-US" b="true" sz="5200" i="true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Roboto Bold Italics"/>
                <a:ea typeface="Roboto Bold Italics"/>
                <a:cs typeface="Roboto Bold Italics"/>
                <a:sym typeface="Roboto Bold Italics"/>
              </a:rPr>
              <a:t>222182038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57135" y="4976278"/>
            <a:ext cx="3648770" cy="751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0"/>
              </a:lnSpc>
              <a:spcBef>
                <a:spcPct val="0"/>
              </a:spcBef>
            </a:pPr>
            <a:r>
              <a:rPr lang="en-US" b="true" sz="5200" i="true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Roboto Bold Italics"/>
                <a:ea typeface="Roboto Bold Italics"/>
                <a:cs typeface="Roboto Bold Italics"/>
                <a:sym typeface="Roboto Bold Italics"/>
              </a:rPr>
              <a:t>Dept. of CSE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38888" y="687383"/>
            <a:ext cx="18565776" cy="720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  <a:spcBef>
                <a:spcPct val="0"/>
              </a:spcBef>
            </a:pPr>
            <a:r>
              <a:rPr lang="en-US" sz="5000">
                <a:solidFill>
                  <a:srgbClr val="545454"/>
                </a:solidFill>
                <a:latin typeface="Roboto"/>
                <a:ea typeface="Roboto"/>
                <a:cs typeface="Roboto"/>
                <a:sym typeface="Roboto"/>
              </a:rPr>
              <a:t>Roadside Stalls, Traffic Flows, and Pedestrian Safety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05775" y="2534017"/>
            <a:ext cx="6565728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87448" indent="-593724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Roadside Stalls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05775" y="3545071"/>
            <a:ext cx="9417964" cy="96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87448" indent="-593724" lvl="1">
              <a:lnSpc>
                <a:spcPts val="7699"/>
              </a:lnSpc>
              <a:buFont typeface="Arial"/>
              <a:buChar char="•"/>
            </a:pPr>
            <a:r>
              <a:rPr lang="en-US" sz="5499" spc="-109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Problems for roadside stalls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05775" y="4594225"/>
            <a:ext cx="8602167" cy="96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87448" indent="-593724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Mitigate these problems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41606" y="2111536"/>
            <a:ext cx="7217694" cy="4750380"/>
          </a:xfrm>
          <a:custGeom>
            <a:avLst/>
            <a:gdLst/>
            <a:ahLst/>
            <a:cxnLst/>
            <a:rect r="r" b="b" t="t" l="l"/>
            <a:pathLst>
              <a:path h="4750380" w="7217694">
                <a:moveTo>
                  <a:pt x="0" y="0"/>
                </a:moveTo>
                <a:lnTo>
                  <a:pt x="7217694" y="0"/>
                </a:lnTo>
                <a:lnTo>
                  <a:pt x="7217694" y="4750380"/>
                </a:lnTo>
                <a:lnTo>
                  <a:pt x="0" y="475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29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58779" y="457206"/>
            <a:ext cx="8770441" cy="102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171A4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Roadside Stall 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1715" y="2044861"/>
            <a:ext cx="8582285" cy="1807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43"/>
              </a:lnSpc>
            </a:pPr>
            <a:r>
              <a:rPr lang="en-US" sz="3459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Roa</a:t>
            </a:r>
            <a:r>
              <a:rPr lang="en-US" sz="3459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dside stalls are small, informal businesses operating along streets and sidewalks.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1715" y="4000098"/>
            <a:ext cx="9121624" cy="230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Economic role : jobs, low cost service</a:t>
            </a:r>
          </a:p>
          <a:p>
            <a:pPr algn="l" marL="734059" indent="-367030" lvl="1">
              <a:lnSpc>
                <a:spcPts val="441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Legal Status: No official registration exists</a:t>
            </a:r>
          </a:p>
          <a:p>
            <a:pPr algn="l" marL="734059" indent="-367030" lvl="1">
              <a:lnSpc>
                <a:spcPts val="441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Consumer Base : lower middle class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Benifits : affordable, accessible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05448" y="3401593"/>
            <a:ext cx="8582552" cy="5433929"/>
          </a:xfrm>
          <a:custGeom>
            <a:avLst/>
            <a:gdLst/>
            <a:ahLst/>
            <a:cxnLst/>
            <a:rect r="r" b="b" t="t" l="l"/>
            <a:pathLst>
              <a:path h="5433929" w="8582552">
                <a:moveTo>
                  <a:pt x="0" y="0"/>
                </a:moveTo>
                <a:lnTo>
                  <a:pt x="8582552" y="0"/>
                </a:lnTo>
                <a:lnTo>
                  <a:pt x="8582552" y="5433929"/>
                </a:lnTo>
                <a:lnTo>
                  <a:pt x="0" y="54339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098" r="-6235" b="-76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81823" y="1076325"/>
            <a:ext cx="9124355" cy="784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5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Problems for Roadside Stalls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8709" y="4016992"/>
            <a:ext cx="7982942" cy="3564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90" indent="-345445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Traffic</a:t>
            </a: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Flow Disruption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Pedestrian Safety Risks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Road Space Encroachment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Public Health &amp; Sanitation Issues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Regulatory &amp; Governance Challenges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Social &amp; Cultural Conflicts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8709" y="2344319"/>
            <a:ext cx="8901410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60%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of footpaths illegally occupied in dhaka city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15324" y="1795535"/>
            <a:ext cx="5783222" cy="7710963"/>
          </a:xfrm>
          <a:custGeom>
            <a:avLst/>
            <a:gdLst/>
            <a:ahLst/>
            <a:cxnLst/>
            <a:rect r="r" b="b" t="t" l="l"/>
            <a:pathLst>
              <a:path h="7710963" w="5783222">
                <a:moveTo>
                  <a:pt x="0" y="0"/>
                </a:moveTo>
                <a:lnTo>
                  <a:pt x="5783222" y="0"/>
                </a:lnTo>
                <a:lnTo>
                  <a:pt x="5783222" y="7710963"/>
                </a:lnTo>
                <a:lnTo>
                  <a:pt x="0" y="7710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524547"/>
            <a:ext cx="10522645" cy="55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6942" indent="-373471" lvl="1">
              <a:lnSpc>
                <a:spcPts val="4843"/>
              </a:lnSpc>
              <a:buFont typeface="Arial"/>
              <a:buChar char="•"/>
            </a:pPr>
            <a:r>
              <a:rPr lang="en-US" sz="34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Designate</a:t>
            </a:r>
            <a:r>
              <a:rPr lang="en-US" sz="34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specific areas for street vendors</a:t>
            </a:r>
          </a:p>
          <a:p>
            <a:pPr algn="l" marL="1334069" indent="-333517" lvl="3">
              <a:lnSpc>
                <a:spcPts val="2883"/>
              </a:lnSpc>
              <a:buFont typeface="Arial"/>
              <a:buChar char="￭"/>
            </a:pPr>
            <a:r>
              <a:rPr lang="en-US" sz="20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Allocate zones where vendors can operate without blocking sidewalks or roads.</a:t>
            </a:r>
          </a:p>
          <a:p>
            <a:pPr algn="l" marL="746942" indent="-373471" lvl="1">
              <a:lnSpc>
                <a:spcPts val="4843"/>
              </a:lnSpc>
              <a:buFont typeface="Arial"/>
              <a:buChar char="•"/>
            </a:pPr>
            <a:r>
              <a:rPr lang="en-US" sz="34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Pedestrian-Oriented Footpath Design</a:t>
            </a:r>
          </a:p>
          <a:p>
            <a:pPr algn="l" marL="1334069" indent="-333517" lvl="3">
              <a:lnSpc>
                <a:spcPts val="2883"/>
              </a:lnSpc>
              <a:buFont typeface="Arial"/>
              <a:buChar char="￭"/>
            </a:pPr>
            <a:r>
              <a:rPr lang="en-US" sz="20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Footpaths should have sufficient width for safe walking.</a:t>
            </a:r>
          </a:p>
          <a:p>
            <a:pPr algn="l" marL="746942" indent="-373471" lvl="1">
              <a:lnSpc>
                <a:spcPts val="4843"/>
              </a:lnSpc>
              <a:buFont typeface="Arial"/>
              <a:buChar char="•"/>
            </a:pPr>
            <a:r>
              <a:rPr lang="en-US" sz="34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Restrict vending in high-traffic areas</a:t>
            </a:r>
          </a:p>
          <a:p>
            <a:pPr algn="l" marL="746942" indent="-373471" lvl="1">
              <a:lnSpc>
                <a:spcPts val="4843"/>
              </a:lnSpc>
              <a:buFont typeface="Arial"/>
              <a:buChar char="•"/>
            </a:pPr>
            <a:r>
              <a:rPr lang="en-US" sz="34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Vendor Registration &amp; Policy Frameworks</a:t>
            </a:r>
          </a:p>
          <a:p>
            <a:pPr algn="l" marL="1334069" indent="-333517" lvl="3">
              <a:lnSpc>
                <a:spcPts val="2883"/>
              </a:lnSpc>
              <a:buFont typeface="Arial"/>
              <a:buChar char="￭"/>
            </a:pPr>
            <a:r>
              <a:rPr lang="en-US" sz="20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Issue IDs or licenses to vendors</a:t>
            </a:r>
          </a:p>
          <a:p>
            <a:pPr algn="l" marL="1334069" indent="-333517" lvl="3">
              <a:lnSpc>
                <a:spcPts val="2883"/>
              </a:lnSpc>
              <a:buFont typeface="Arial"/>
              <a:buChar char="￭"/>
            </a:pPr>
            <a:r>
              <a:rPr lang="en-US" sz="20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Supports fair regulation and protects vendor livelihoods.</a:t>
            </a:r>
          </a:p>
          <a:p>
            <a:pPr algn="l" marL="746942" indent="-373471" lvl="1">
              <a:lnSpc>
                <a:spcPts val="4843"/>
              </a:lnSpc>
              <a:buFont typeface="Arial"/>
              <a:buChar char="•"/>
            </a:pPr>
            <a:r>
              <a:rPr lang="en-US" sz="34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Public Awareness &amp; Safety Initiatives</a:t>
            </a:r>
          </a:p>
          <a:p>
            <a:pPr algn="l" marL="1398838" indent="-349709" lvl="3">
              <a:lnSpc>
                <a:spcPts val="3023"/>
              </a:lnSpc>
              <a:buFont typeface="Arial"/>
              <a:buChar char="￭"/>
            </a:pPr>
            <a:r>
              <a:rPr lang="en-US" sz="21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Conduct campaigns about safe walking, crossings, and traffic rules.</a:t>
            </a:r>
          </a:p>
          <a:p>
            <a:pPr algn="l">
              <a:lnSpc>
                <a:spcPts val="554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073237" y="933450"/>
            <a:ext cx="9036050" cy="862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3"/>
              </a:lnSpc>
              <a:spcBef>
                <a:spcPct val="0"/>
              </a:spcBef>
            </a:pPr>
            <a:r>
              <a:rPr lang="en-US" b="true" sz="505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Mitigate Strategies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558292"/>
            <a:ext cx="16230600" cy="5170415"/>
            <a:chOff x="0" y="0"/>
            <a:chExt cx="21640800" cy="689388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7739478" y="247650"/>
              <a:ext cx="6161844" cy="1900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121"/>
                </a:lnSpc>
              </a:pPr>
              <a:r>
                <a:rPr lang="en-US" sz="8280">
                  <a:solidFill>
                    <a:srgbClr val="FF5055"/>
                  </a:solidFill>
                  <a:latin typeface="Trend Sans One"/>
                  <a:ea typeface="Trend Sans One"/>
                  <a:cs typeface="Trend Sans One"/>
                  <a:sym typeface="Trend Sans One"/>
                </a:rPr>
                <a:t>thank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891397"/>
              <a:ext cx="21640800" cy="4002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35"/>
                </a:lnSpc>
              </a:pPr>
              <a:r>
                <a:rPr lang="en-US" sz="23296" spc="-535">
                  <a:solidFill>
                    <a:srgbClr val="FF5055"/>
                  </a:solidFill>
                  <a:latin typeface="Trend Slab Four"/>
                  <a:ea typeface="Trend Slab Four"/>
                  <a:cs typeface="Trend Slab Four"/>
                  <a:sym typeface="Trend Slab Four"/>
                </a:rPr>
                <a:t>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DAHGA8A3uv8</dc:identifier>
  <dcterms:modified xsi:type="dcterms:W3CDTF">2011-08-01T06:04:30Z</dcterms:modified>
  <cp:revision>1</cp:revision>
  <dc:title>Md Jahangir Alam</dc:title>
</cp:coreProperties>
</file>