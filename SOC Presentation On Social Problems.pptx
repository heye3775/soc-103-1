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Roboto" charset="1" panose="02000000000000000000"/>
      <p:regular r:id="rId13"/>
    </p:embeddedFont>
    <p:embeddedFont>
      <p:font typeface="Roboto Bold" charset="1" panose="02000000000000000000"/>
      <p:regular r:id="rId14"/>
    </p:embeddedFont>
    <p:embeddedFont>
      <p:font typeface="Roboto Bold Italics" charset="1" panose="02000000000000000000"/>
      <p:regular r:id="rId15"/>
    </p:embeddedFont>
    <p:embeddedFont>
      <p:font typeface="Canva Sans" charset="1" panose="020B0503030501040103"/>
      <p:regular r:id="rId16"/>
    </p:embeddedFont>
    <p:embeddedFont>
      <p:font typeface="Arimo" charset="1" panose="020B0604020202020204"/>
      <p:regular r:id="rId17"/>
    </p:embeddedFont>
    <p:embeddedFont>
      <p:font typeface="Cardo" charset="1" panose="02020600000000000000"/>
      <p:regular r:id="rId18"/>
    </p:embeddedFont>
    <p:embeddedFont>
      <p:font typeface="Didact Gothic" charset="1" panose="00000500000000000000"/>
      <p:regular r:id="rId19"/>
    </p:embeddedFont>
    <p:embeddedFont>
      <p:font typeface="Canva Sans Bold" charset="1" panose="020B0803030501040103"/>
      <p:regular r:id="rId20"/>
    </p:embeddedFont>
    <p:embeddedFont>
      <p:font typeface="Trend Sans One" charset="1" panose="00000000000000000000"/>
      <p:regular r:id="rId21"/>
    </p:embeddedFont>
    <p:embeddedFont>
      <p:font typeface="Trend Slab Four" charset="1" panose="000000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http://aiipub.com/wp-content/uploads/2021/12/AJSBR-211128-1000-fp1.pdf" TargetMode="External" Type="http://schemas.openxmlformats.org/officeDocument/2006/relationships/hyperlink"/><Relationship Id="rId4" Target="https://www.tbsnews.net/features/panorama/street-food-vendors-dhaka-are-stuck-clueless-legal-limbo-1093411" TargetMode="External" Type="http://schemas.openxmlformats.org/officeDocument/2006/relationships/hyperlink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890898"/>
            <a:ext cx="18288000" cy="6792204"/>
            <a:chOff x="0" y="0"/>
            <a:chExt cx="6186311" cy="22976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86311" cy="2297610"/>
            </a:xfrm>
            <a:custGeom>
              <a:avLst/>
              <a:gdLst/>
              <a:ahLst/>
              <a:cxnLst/>
              <a:rect r="r" b="b" t="t" l="l"/>
              <a:pathLst>
                <a:path h="2297610" w="6186311">
                  <a:moveTo>
                    <a:pt x="6061851" y="2297610"/>
                  </a:moveTo>
                  <a:lnTo>
                    <a:pt x="124460" y="2297610"/>
                  </a:lnTo>
                  <a:cubicBezTo>
                    <a:pt x="55880" y="2297610"/>
                    <a:pt x="0" y="2241730"/>
                    <a:pt x="0" y="217315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6061851" y="0"/>
                  </a:lnTo>
                  <a:cubicBezTo>
                    <a:pt x="6130431" y="0"/>
                    <a:pt x="6186311" y="55880"/>
                    <a:pt x="6186311" y="124460"/>
                  </a:cubicBezTo>
                  <a:lnTo>
                    <a:pt x="6186311" y="2173150"/>
                  </a:lnTo>
                  <a:cubicBezTo>
                    <a:pt x="6186311" y="2241730"/>
                    <a:pt x="6130431" y="2297610"/>
                    <a:pt x="6061851" y="2297610"/>
                  </a:cubicBezTo>
                  <a:close/>
                </a:path>
              </a:pathLst>
            </a:custGeom>
            <a:solidFill>
              <a:srgbClr val="F6D8B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0208" y="344968"/>
            <a:ext cx="5240739" cy="8229600"/>
            <a:chOff x="0" y="0"/>
            <a:chExt cx="6065670" cy="9525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65670" cy="9525000"/>
            </a:xfrm>
            <a:custGeom>
              <a:avLst/>
              <a:gdLst/>
              <a:ahLst/>
              <a:cxnLst/>
              <a:rect r="r" b="b" t="t" l="l"/>
              <a:pathLst>
                <a:path h="9525000" w="6065670">
                  <a:moveTo>
                    <a:pt x="0" y="9042400"/>
                  </a:moveTo>
                  <a:lnTo>
                    <a:pt x="0" y="482600"/>
                  </a:lnTo>
                  <a:cubicBezTo>
                    <a:pt x="0" y="215900"/>
                    <a:pt x="206233" y="0"/>
                    <a:pt x="460991" y="0"/>
                  </a:cubicBezTo>
                  <a:lnTo>
                    <a:pt x="5604679" y="0"/>
                  </a:lnTo>
                  <a:cubicBezTo>
                    <a:pt x="5859437" y="0"/>
                    <a:pt x="6065670" y="217170"/>
                    <a:pt x="6065670" y="482600"/>
                  </a:cubicBezTo>
                  <a:lnTo>
                    <a:pt x="6065670" y="9042400"/>
                  </a:lnTo>
                  <a:cubicBezTo>
                    <a:pt x="6065670" y="9309100"/>
                    <a:pt x="5859437" y="9525000"/>
                    <a:pt x="5604679" y="9525000"/>
                  </a:cubicBezTo>
                  <a:lnTo>
                    <a:pt x="460991" y="9525000"/>
                  </a:lnTo>
                  <a:cubicBezTo>
                    <a:pt x="207446" y="9525000"/>
                    <a:pt x="0" y="9309100"/>
                    <a:pt x="0" y="9042400"/>
                  </a:cubicBezTo>
                  <a:close/>
                </a:path>
              </a:pathLst>
            </a:custGeom>
            <a:blipFill>
              <a:blip r:embed="rId2"/>
              <a:stretch>
                <a:fillRect l="-231371" t="0" r="-272326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850619" y="738377"/>
            <a:ext cx="817361" cy="822954"/>
            <a:chOff x="0" y="0"/>
            <a:chExt cx="1089815" cy="10972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89815" cy="1097272"/>
            </a:xfrm>
            <a:custGeom>
              <a:avLst/>
              <a:gdLst/>
              <a:ahLst/>
              <a:cxnLst/>
              <a:rect r="r" b="b" t="t" l="l"/>
              <a:pathLst>
                <a:path h="1097272" w="1089815">
                  <a:moveTo>
                    <a:pt x="0" y="0"/>
                  </a:moveTo>
                  <a:lnTo>
                    <a:pt x="1089815" y="0"/>
                  </a:lnTo>
                  <a:lnTo>
                    <a:pt x="1089815" y="1097272"/>
                  </a:lnTo>
                  <a:lnTo>
                    <a:pt x="0" y="1097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05" t="0" r="-405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218035" y="320354"/>
              <a:ext cx="729946" cy="4533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730"/>
                </a:lnSpc>
              </a:pPr>
              <a:r>
                <a:rPr lang="en-US" sz="2100" spc="-63">
                  <a:solidFill>
                    <a:srgbClr val="E45F14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685241" y="2740983"/>
            <a:ext cx="9165378" cy="1034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7200" b="true">
                <a:solidFill>
                  <a:srgbClr val="E45F14"/>
                </a:solidFill>
                <a:latin typeface="Roboto Bold"/>
                <a:ea typeface="Roboto Bold"/>
                <a:cs typeface="Roboto Bold"/>
                <a:sym typeface="Roboto Bold"/>
              </a:rPr>
              <a:t>Md Jahangir Alam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685241" y="1140329"/>
            <a:ext cx="5555904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9"/>
              </a:lnSpc>
            </a:pPr>
            <a:r>
              <a:rPr lang="en-US" b="true" sz="5999">
                <a:solidFill>
                  <a:srgbClr val="545454"/>
                </a:solidFill>
                <a:latin typeface="Roboto Bold"/>
                <a:ea typeface="Roboto Bold"/>
                <a:cs typeface="Roboto Bold"/>
                <a:sym typeface="Roboto Bold"/>
              </a:rPr>
              <a:t>Presentation By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319615" y="4102898"/>
            <a:ext cx="3986290" cy="751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20"/>
              </a:lnSpc>
              <a:spcBef>
                <a:spcPct val="0"/>
              </a:spcBef>
            </a:pPr>
            <a:r>
              <a:rPr lang="en-US" b="true" sz="5200" i="true">
                <a:gradFill>
                  <a:gsLst>
                    <a:gs pos="0">
                      <a:srgbClr val="FF3131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Roboto Bold Italics"/>
                <a:ea typeface="Roboto Bold Italics"/>
                <a:cs typeface="Roboto Bold Italics"/>
                <a:sym typeface="Roboto Bold Italics"/>
              </a:rPr>
              <a:t>222182038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657135" y="4976278"/>
            <a:ext cx="3648770" cy="751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20"/>
              </a:lnSpc>
              <a:spcBef>
                <a:spcPct val="0"/>
              </a:spcBef>
            </a:pPr>
            <a:r>
              <a:rPr lang="en-US" b="true" sz="5200" i="true">
                <a:gradFill>
                  <a:gsLst>
                    <a:gs pos="0">
                      <a:srgbClr val="FF3131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Roboto Bold Italics"/>
                <a:ea typeface="Roboto Bold Italics"/>
                <a:cs typeface="Roboto Bold Italics"/>
                <a:sym typeface="Roboto Bold Italics"/>
              </a:rPr>
              <a:t>Dept. of CSE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138888" y="687383"/>
            <a:ext cx="18565776" cy="720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00"/>
              </a:lnSpc>
              <a:spcBef>
                <a:spcPct val="0"/>
              </a:spcBef>
            </a:pPr>
            <a:r>
              <a:rPr lang="en-US" sz="5000">
                <a:solidFill>
                  <a:srgbClr val="545454"/>
                </a:solidFill>
                <a:latin typeface="Roboto"/>
                <a:ea typeface="Roboto"/>
                <a:cs typeface="Roboto"/>
                <a:sym typeface="Roboto"/>
              </a:rPr>
              <a:t>Roadside Stalls, Traffic Flows, and Pedestrian Safety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605775" y="2534017"/>
            <a:ext cx="6565728" cy="92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87448" indent="-593724" lvl="1">
              <a:lnSpc>
                <a:spcPts val="7699"/>
              </a:lnSpc>
              <a:buFont typeface="Arial"/>
              <a:buChar char="•"/>
            </a:pPr>
            <a:r>
              <a:rPr lang="en-US" sz="5499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Roadside Stalls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605775" y="3545071"/>
            <a:ext cx="9417964" cy="96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87448" indent="-593724" lvl="1">
              <a:lnSpc>
                <a:spcPts val="7699"/>
              </a:lnSpc>
              <a:buFont typeface="Arial"/>
              <a:buChar char="•"/>
            </a:pPr>
            <a:r>
              <a:rPr lang="en-US" sz="5499" spc="-109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Problems for roadside stalls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605775" y="5596121"/>
            <a:ext cx="8602167" cy="96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87448" indent="-593724" lvl="1">
              <a:lnSpc>
                <a:spcPts val="7699"/>
              </a:lnSpc>
              <a:buFont typeface="Arial"/>
              <a:buChar char="•"/>
            </a:pPr>
            <a:r>
              <a:rPr lang="en-US" sz="5499">
                <a:solidFill>
                  <a:srgbClr val="545454"/>
                </a:solidFill>
                <a:latin typeface="Arimo"/>
                <a:ea typeface="Arimo"/>
                <a:cs typeface="Arimo"/>
                <a:sym typeface="Arimo"/>
              </a:rPr>
              <a:t>Mitigate these problems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605775" y="4634096"/>
            <a:ext cx="844592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22679" indent="-561340" lvl="1">
              <a:lnSpc>
                <a:spcPts val="7279"/>
              </a:lnSpc>
              <a:buFont typeface="Arial"/>
              <a:buChar char="•"/>
            </a:pPr>
            <a:r>
              <a:rPr lang="en-US" sz="5199">
                <a:solidFill>
                  <a:srgbClr val="545454"/>
                </a:solidFill>
                <a:latin typeface="Canva Sans"/>
                <a:ea typeface="Canva Sans"/>
                <a:cs typeface="Canva Sans"/>
                <a:sym typeface="Canva Sans"/>
              </a:rPr>
              <a:t>Why it Raises so fast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041606" y="2111536"/>
            <a:ext cx="7217694" cy="4750380"/>
          </a:xfrm>
          <a:custGeom>
            <a:avLst/>
            <a:gdLst/>
            <a:ahLst/>
            <a:cxnLst/>
            <a:rect r="r" b="b" t="t" l="l"/>
            <a:pathLst>
              <a:path h="4750380" w="7217694">
                <a:moveTo>
                  <a:pt x="0" y="0"/>
                </a:moveTo>
                <a:lnTo>
                  <a:pt x="7217694" y="0"/>
                </a:lnTo>
                <a:lnTo>
                  <a:pt x="7217694" y="4750380"/>
                </a:lnTo>
                <a:lnTo>
                  <a:pt x="0" y="4750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29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551726" y="447681"/>
            <a:ext cx="7184549" cy="1038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spc="-150">
                <a:solidFill>
                  <a:srgbClr val="F13223"/>
                </a:solidFill>
                <a:latin typeface="Cardo"/>
                <a:ea typeface="Cardo"/>
                <a:cs typeface="Cardo"/>
                <a:sym typeface="Cardo"/>
              </a:rPr>
              <a:t>What is Roadside Stall 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61715" y="2054386"/>
            <a:ext cx="8582285" cy="1798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43"/>
              </a:lnSpc>
            </a:pPr>
            <a:r>
              <a:rPr lang="en-US" sz="3459" spc="276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Roadside stalls are small, informal businesses operating along streets and sidewalks.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61715" y="4037388"/>
            <a:ext cx="9121624" cy="2248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0296" indent="-360148" lvl="1">
              <a:lnSpc>
                <a:spcPts val="4670"/>
              </a:lnSpc>
              <a:buFont typeface="Arial"/>
              <a:buChar char="•"/>
            </a:pPr>
            <a:r>
              <a:rPr lang="en-US" sz="3336" spc="133">
                <a:solidFill>
                  <a:srgbClr val="000000"/>
                </a:solidFill>
                <a:latin typeface="Didact Gothic"/>
                <a:ea typeface="Didact Gothic"/>
                <a:cs typeface="Didact Gothic"/>
                <a:sym typeface="Didact Gothic"/>
              </a:rPr>
              <a:t>Economic role : jobs, low cost service</a:t>
            </a:r>
          </a:p>
          <a:p>
            <a:pPr algn="l" marL="720296" indent="-360148" lvl="1">
              <a:lnSpc>
                <a:spcPts val="4337"/>
              </a:lnSpc>
              <a:buFont typeface="Arial"/>
              <a:buChar char="•"/>
            </a:pPr>
            <a:r>
              <a:rPr lang="en-US" sz="3336" spc="133">
                <a:solidFill>
                  <a:srgbClr val="000000"/>
                </a:solidFill>
                <a:latin typeface="Didact Gothic"/>
                <a:ea typeface="Didact Gothic"/>
                <a:cs typeface="Didact Gothic"/>
                <a:sym typeface="Didact Gothic"/>
              </a:rPr>
              <a:t>Legal Status: No official registration exists</a:t>
            </a:r>
          </a:p>
          <a:p>
            <a:pPr algn="l" marL="720296" indent="-360148" lvl="1">
              <a:lnSpc>
                <a:spcPts val="4337"/>
              </a:lnSpc>
              <a:buFont typeface="Arial"/>
              <a:buChar char="•"/>
            </a:pPr>
            <a:r>
              <a:rPr lang="en-US" sz="3336" spc="133">
                <a:solidFill>
                  <a:srgbClr val="000000"/>
                </a:solidFill>
                <a:latin typeface="Didact Gothic"/>
                <a:ea typeface="Didact Gothic"/>
                <a:cs typeface="Didact Gothic"/>
                <a:sym typeface="Didact Gothic"/>
              </a:rPr>
              <a:t>Consumer Base : lower middle class</a:t>
            </a:r>
          </a:p>
          <a:p>
            <a:pPr algn="l" marL="720296" indent="-360148" lvl="1">
              <a:lnSpc>
                <a:spcPts val="4670"/>
              </a:lnSpc>
              <a:buFont typeface="Arial"/>
              <a:buChar char="•"/>
            </a:pPr>
            <a:r>
              <a:rPr lang="en-US" sz="3336" spc="133">
                <a:solidFill>
                  <a:srgbClr val="000000"/>
                </a:solidFill>
                <a:latin typeface="Didact Gothic"/>
                <a:ea typeface="Didact Gothic"/>
                <a:cs typeface="Didact Gothic"/>
                <a:sym typeface="Didact Gothic"/>
              </a:rPr>
              <a:t>Benifits : affordable, accessible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705448" y="3401593"/>
            <a:ext cx="8582552" cy="5433929"/>
          </a:xfrm>
          <a:custGeom>
            <a:avLst/>
            <a:gdLst/>
            <a:ahLst/>
            <a:cxnLst/>
            <a:rect r="r" b="b" t="t" l="l"/>
            <a:pathLst>
              <a:path h="5433929" w="8582552">
                <a:moveTo>
                  <a:pt x="0" y="0"/>
                </a:moveTo>
                <a:lnTo>
                  <a:pt x="8582552" y="0"/>
                </a:lnTo>
                <a:lnTo>
                  <a:pt x="8582552" y="5433929"/>
                </a:lnTo>
                <a:lnTo>
                  <a:pt x="0" y="54339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098" r="-6235" b="-76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255895" y="1085850"/>
            <a:ext cx="7776210" cy="774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50"/>
              </a:lnSpc>
              <a:spcBef>
                <a:spcPct val="0"/>
              </a:spcBef>
            </a:pPr>
            <a:r>
              <a:rPr lang="en-US" sz="5500" spc="-137">
                <a:solidFill>
                  <a:srgbClr val="000000"/>
                </a:solidFill>
                <a:latin typeface="Cardo"/>
                <a:ea typeface="Cardo"/>
                <a:cs typeface="Cardo"/>
                <a:sym typeface="Cardo"/>
              </a:rPr>
              <a:t>Problems for Roadside Stalls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48709" y="4045567"/>
            <a:ext cx="8618061" cy="3535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90" indent="-345445" lvl="1">
              <a:lnSpc>
                <a:spcPts val="4480"/>
              </a:lnSpc>
              <a:buFont typeface="Arial"/>
              <a:buChar char="•"/>
            </a:pPr>
            <a:r>
              <a:rPr lang="en-US" sz="3200" spc="128">
                <a:solidFill>
                  <a:srgbClr val="000000"/>
                </a:solidFill>
                <a:latin typeface="Didact Gothic"/>
                <a:ea typeface="Didact Gothic"/>
                <a:cs typeface="Didact Gothic"/>
                <a:sym typeface="Didact Gothic"/>
              </a:rPr>
              <a:t>Traffic Flow Disruption</a:t>
            </a:r>
          </a:p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 spc="272">
                <a:solidFill>
                  <a:srgbClr val="000000"/>
                </a:solidFill>
                <a:latin typeface="Didact Gothic"/>
                <a:ea typeface="Didact Gothic"/>
                <a:cs typeface="Didact Gothic"/>
                <a:sym typeface="Didact Gothic"/>
              </a:rPr>
              <a:t>Pedestrian Safety Risks</a:t>
            </a:r>
          </a:p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 spc="272">
                <a:solidFill>
                  <a:srgbClr val="000000"/>
                </a:solidFill>
                <a:latin typeface="Didact Gothic"/>
                <a:ea typeface="Didact Gothic"/>
                <a:cs typeface="Didact Gothic"/>
                <a:sym typeface="Didact Gothic"/>
              </a:rPr>
              <a:t>Road Space Encroachment</a:t>
            </a:r>
          </a:p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 spc="272">
                <a:solidFill>
                  <a:srgbClr val="000000"/>
                </a:solidFill>
                <a:latin typeface="Didact Gothic"/>
                <a:ea typeface="Didact Gothic"/>
                <a:cs typeface="Didact Gothic"/>
                <a:sym typeface="Didact Gothic"/>
              </a:rPr>
              <a:t>Public Health &amp; Sanitation Issues</a:t>
            </a:r>
          </a:p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 spc="272">
                <a:solidFill>
                  <a:srgbClr val="000000"/>
                </a:solidFill>
                <a:latin typeface="Didact Gothic"/>
                <a:ea typeface="Didact Gothic"/>
                <a:cs typeface="Didact Gothic"/>
                <a:sym typeface="Didact Gothic"/>
              </a:rPr>
              <a:t>Regulatory &amp; Governance Challenges</a:t>
            </a:r>
          </a:p>
          <a:p>
            <a:pPr algn="l" marL="734069" indent="-367035" lvl="1">
              <a:lnSpc>
                <a:spcPts val="4760"/>
              </a:lnSpc>
              <a:buFont typeface="Arial"/>
              <a:buChar char="•"/>
            </a:pPr>
            <a:r>
              <a:rPr lang="en-US" sz="3400" spc="272">
                <a:solidFill>
                  <a:srgbClr val="000000"/>
                </a:solidFill>
                <a:latin typeface="Didact Gothic"/>
                <a:ea typeface="Didact Gothic"/>
                <a:cs typeface="Didact Gothic"/>
                <a:sym typeface="Didact Gothic"/>
              </a:rPr>
              <a:t>Social &amp; Cultural Conflicts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48709" y="2334794"/>
            <a:ext cx="8466296" cy="523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120">
                <a:solidFill>
                  <a:srgbClr val="000000"/>
                </a:solidFill>
                <a:latin typeface="Didact Gothic"/>
                <a:ea typeface="Didact Gothic"/>
                <a:cs typeface="Didact Gothic"/>
                <a:sym typeface="Didact Gothic"/>
              </a:rPr>
              <a:t>60% of footpaths illegally occupied in dhaka city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832210" y="2477319"/>
            <a:ext cx="8970791" cy="4928682"/>
          </a:xfrm>
          <a:custGeom>
            <a:avLst/>
            <a:gdLst/>
            <a:ahLst/>
            <a:cxnLst/>
            <a:rect r="r" b="b" t="t" l="l"/>
            <a:pathLst>
              <a:path h="4928682" w="8970791">
                <a:moveTo>
                  <a:pt x="0" y="0"/>
                </a:moveTo>
                <a:lnTo>
                  <a:pt x="8970791" y="0"/>
                </a:lnTo>
                <a:lnTo>
                  <a:pt x="8970791" y="4928681"/>
                </a:lnTo>
                <a:lnTo>
                  <a:pt x="0" y="49286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90" r="0" b="-119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073786" y="942975"/>
            <a:ext cx="11941876" cy="771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2"/>
              </a:lnSpc>
            </a:pPr>
            <a:r>
              <a:rPr lang="en-US" sz="4501" spc="360">
                <a:solidFill>
                  <a:srgbClr val="343434"/>
                </a:solidFill>
                <a:latin typeface="Didact Gothic"/>
                <a:ea typeface="Didact Gothic"/>
                <a:cs typeface="Didact Gothic"/>
                <a:sym typeface="Didact Gothic"/>
              </a:rPr>
              <a:t>Why Roadside Vendors Raises So Fast 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40025" y="3337962"/>
            <a:ext cx="6092185" cy="2462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32" indent="-302266" lvl="1">
              <a:lnSpc>
                <a:spcPts val="3920"/>
              </a:lnSpc>
              <a:buFont typeface="Arial"/>
              <a:buChar char="•"/>
            </a:pPr>
            <a:r>
              <a:rPr lang="en-US" sz="2800" spc="112">
                <a:solidFill>
                  <a:srgbClr val="000000"/>
                </a:solidFill>
                <a:latin typeface="Didact Gothic"/>
                <a:ea typeface="Didact Gothic"/>
                <a:cs typeface="Didact Gothic"/>
                <a:sym typeface="Didact Gothic"/>
              </a:rPr>
              <a:t>Massive Urban Migration : </a:t>
            </a:r>
          </a:p>
          <a:p>
            <a:pPr algn="l" marL="604532" indent="-302266" lvl="1">
              <a:lnSpc>
                <a:spcPts val="3920"/>
              </a:lnSpc>
              <a:buFont typeface="Arial"/>
              <a:buChar char="•"/>
            </a:pPr>
            <a:r>
              <a:rPr lang="en-US" sz="2800" spc="112">
                <a:solidFill>
                  <a:srgbClr val="000000"/>
                </a:solidFill>
                <a:latin typeface="Didact Gothic"/>
                <a:ea typeface="Didact Gothic"/>
                <a:cs typeface="Didact Gothic"/>
                <a:sym typeface="Didact Gothic"/>
              </a:rPr>
              <a:t>High Consumer Demand:</a:t>
            </a:r>
          </a:p>
          <a:p>
            <a:pPr algn="l" marL="604532" indent="-302266" lvl="1">
              <a:lnSpc>
                <a:spcPts val="3920"/>
              </a:lnSpc>
              <a:buFont typeface="Arial"/>
              <a:buChar char="•"/>
            </a:pPr>
            <a:r>
              <a:rPr lang="en-US" sz="2800" spc="112">
                <a:solidFill>
                  <a:srgbClr val="000000"/>
                </a:solidFill>
                <a:latin typeface="Didact Gothic"/>
                <a:ea typeface="Didact Gothic"/>
                <a:cs typeface="Didact Gothic"/>
                <a:sym typeface="Didact Gothic"/>
              </a:rPr>
              <a:t>Low Barrier to Entry : </a:t>
            </a:r>
          </a:p>
          <a:p>
            <a:pPr algn="l" marL="604532" indent="-302266" lvl="1">
              <a:lnSpc>
                <a:spcPts val="3920"/>
              </a:lnSpc>
              <a:buFont typeface="Arial"/>
              <a:buChar char="•"/>
            </a:pPr>
            <a:r>
              <a:rPr lang="en-US" sz="2800" spc="112" u="sng">
                <a:solidFill>
                  <a:srgbClr val="000000"/>
                </a:solidFill>
                <a:latin typeface="Didact Gothic"/>
                <a:ea typeface="Didact Gothic"/>
                <a:cs typeface="Didact Gothic"/>
                <a:sym typeface="Didact Gothic"/>
                <a:hlinkClick r:id="rId3" tooltip="http://aiipub.com/wp-content/uploads/2021/12/AJSBR-211128-1000-fp1.pdf"/>
              </a:rPr>
              <a:t>low initial capital</a:t>
            </a:r>
          </a:p>
          <a:p>
            <a:pPr algn="l" marL="604532" indent="-302266" lvl="1">
              <a:lnSpc>
                <a:spcPts val="3920"/>
              </a:lnSpc>
              <a:buFont typeface="Arial"/>
              <a:buChar char="•"/>
            </a:pPr>
            <a:r>
              <a:rPr lang="en-US" sz="2800" spc="112" u="sng">
                <a:solidFill>
                  <a:srgbClr val="000000"/>
                </a:solidFill>
                <a:latin typeface="Didact Gothic"/>
                <a:ea typeface="Didact Gothic"/>
                <a:cs typeface="Didact Gothic"/>
                <a:sym typeface="Didact Gothic"/>
              </a:rPr>
              <a:t>lack </a:t>
            </a:r>
            <a:r>
              <a:rPr lang="en-US" sz="2800" spc="112" u="sng">
                <a:solidFill>
                  <a:srgbClr val="000000"/>
                </a:solidFill>
                <a:latin typeface="Didact Gothic"/>
                <a:ea typeface="Didact Gothic"/>
                <a:cs typeface="Didact Gothic"/>
                <a:sym typeface="Didact Gothic"/>
                <a:hlinkClick r:id="rId4" tooltip="https://www.tbsnews.net/features/panorama/street-food-vendors-dhaka-are-stuck-clueless-legal-limbo-1093411"/>
              </a:rPr>
              <a:t>legal recognition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015321" y="1795539"/>
            <a:ext cx="5783218" cy="7710964"/>
            <a:chOff x="0" y="0"/>
            <a:chExt cx="7710957" cy="102812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710932" cy="10281285"/>
            </a:xfrm>
            <a:custGeom>
              <a:avLst/>
              <a:gdLst/>
              <a:ahLst/>
              <a:cxnLst/>
              <a:rect r="r" b="b" t="t" l="l"/>
              <a:pathLst>
                <a:path h="10281285" w="7710932">
                  <a:moveTo>
                    <a:pt x="0" y="0"/>
                  </a:moveTo>
                  <a:lnTo>
                    <a:pt x="7710932" y="0"/>
                  </a:lnTo>
                  <a:lnTo>
                    <a:pt x="7710932" y="10281285"/>
                  </a:lnTo>
                  <a:lnTo>
                    <a:pt x="0" y="10281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8958" t="0" r="-101433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2438819"/>
            <a:ext cx="10522648" cy="5649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0799" indent="-263600" lvl="2">
              <a:lnSpc>
                <a:spcPts val="4843"/>
              </a:lnSpc>
              <a:buFont typeface="Arial"/>
              <a:buChar char="⚬"/>
            </a:pPr>
            <a:r>
              <a:rPr lang="en-US" sz="345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Designate specific areas for street vendors</a:t>
            </a:r>
          </a:p>
          <a:p>
            <a:pPr algn="l" marL="1248970" indent="-249794" lvl="4">
              <a:lnSpc>
                <a:spcPts val="2883"/>
              </a:lnSpc>
              <a:buFont typeface="Arial"/>
              <a:buChar char="•"/>
            </a:pPr>
            <a:r>
              <a:rPr lang="en-US" sz="205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Allocate zones where vendors can operate without blocking sidewalks or roads.</a:t>
            </a:r>
          </a:p>
          <a:p>
            <a:pPr algn="l" marL="790799" indent="-263600" lvl="2">
              <a:lnSpc>
                <a:spcPts val="4843"/>
              </a:lnSpc>
              <a:buFont typeface="Arial"/>
              <a:buChar char="⚬"/>
            </a:pPr>
            <a:r>
              <a:rPr lang="en-US" sz="345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Pedestrian-Oriented Footpath Design</a:t>
            </a:r>
          </a:p>
          <a:p>
            <a:pPr algn="l" marL="1248970" indent="-249794" lvl="4">
              <a:lnSpc>
                <a:spcPts val="2883"/>
              </a:lnSpc>
              <a:buFont typeface="Arial"/>
              <a:buChar char="•"/>
            </a:pPr>
            <a:r>
              <a:rPr lang="en-US" sz="205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Footpaths should have sufficient width for safe walking.</a:t>
            </a:r>
          </a:p>
          <a:p>
            <a:pPr algn="l" marL="790799" indent="-263600" lvl="2">
              <a:lnSpc>
                <a:spcPts val="4843"/>
              </a:lnSpc>
              <a:buFont typeface="Arial"/>
              <a:buChar char="⚬"/>
            </a:pPr>
            <a:r>
              <a:rPr lang="en-US" sz="345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Restrict vending in high-traffic areas</a:t>
            </a:r>
          </a:p>
          <a:p>
            <a:pPr algn="l" marL="790799" indent="-263600" lvl="2">
              <a:lnSpc>
                <a:spcPts val="4843"/>
              </a:lnSpc>
              <a:buFont typeface="Arial"/>
              <a:buChar char="⚬"/>
            </a:pPr>
            <a:r>
              <a:rPr lang="en-US" sz="345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Vendor Registration &amp; Policy Frameworks</a:t>
            </a:r>
          </a:p>
          <a:p>
            <a:pPr algn="l" marL="1248970" indent="-249794" lvl="4">
              <a:lnSpc>
                <a:spcPts val="2883"/>
              </a:lnSpc>
              <a:buFont typeface="Arial"/>
              <a:buChar char="•"/>
            </a:pPr>
            <a:r>
              <a:rPr lang="en-US" sz="205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Issue IDs or licenses to vendors</a:t>
            </a:r>
          </a:p>
          <a:p>
            <a:pPr algn="l" marL="1248970" indent="-249794" lvl="4">
              <a:lnSpc>
                <a:spcPts val="2883"/>
              </a:lnSpc>
              <a:buFont typeface="Arial"/>
              <a:buChar char="•"/>
            </a:pPr>
            <a:r>
              <a:rPr lang="en-US" sz="205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Supports fair regulation and protects vendor livelihoods.</a:t>
            </a:r>
          </a:p>
          <a:p>
            <a:pPr algn="l" marL="790799" indent="-263600" lvl="2">
              <a:lnSpc>
                <a:spcPts val="4843"/>
              </a:lnSpc>
              <a:buFont typeface="Arial"/>
              <a:buChar char="⚬"/>
            </a:pPr>
            <a:r>
              <a:rPr lang="en-US" sz="345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Public Awareness &amp; Safety Initiatives</a:t>
            </a:r>
          </a:p>
          <a:p>
            <a:pPr algn="l" marL="1309612" indent="-261922" lvl="4">
              <a:lnSpc>
                <a:spcPts val="3023"/>
              </a:lnSpc>
              <a:buFont typeface="Arial"/>
              <a:buChar char="•"/>
            </a:pPr>
            <a:r>
              <a:rPr lang="en-US" sz="215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Conduct campaigns about safe walking, crossings, and traffic rules.</a:t>
            </a:r>
          </a:p>
          <a:p>
            <a:pPr algn="l" marL="1248954" indent="-249791" lvl="4">
              <a:lnSpc>
                <a:spcPts val="5147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4073233" y="838200"/>
            <a:ext cx="9036053" cy="957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83"/>
              </a:lnSpc>
            </a:pPr>
            <a:r>
              <a:rPr lang="en-US" sz="505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Mitigate Strategies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558292"/>
            <a:ext cx="16230600" cy="5170415"/>
            <a:chOff x="0" y="0"/>
            <a:chExt cx="21640800" cy="6893887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7739478" y="247650"/>
              <a:ext cx="6161844" cy="19002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121"/>
                </a:lnSpc>
              </a:pPr>
              <a:r>
                <a:rPr lang="en-US" sz="8280">
                  <a:solidFill>
                    <a:srgbClr val="FF5055"/>
                  </a:solidFill>
                  <a:latin typeface="Trend Sans One"/>
                  <a:ea typeface="Trend Sans One"/>
                  <a:cs typeface="Trend Sans One"/>
                  <a:sym typeface="Trend Sans One"/>
                </a:rPr>
                <a:t>thank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891397"/>
              <a:ext cx="21640800" cy="40024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35"/>
                </a:lnSpc>
              </a:pPr>
              <a:r>
                <a:rPr lang="en-US" sz="23296" spc="-535">
                  <a:solidFill>
                    <a:srgbClr val="FF5055"/>
                  </a:solidFill>
                  <a:latin typeface="Trend Slab Four"/>
                  <a:ea typeface="Trend Slab Four"/>
                  <a:cs typeface="Trend Slab Four"/>
                  <a:sym typeface="Trend Slab Four"/>
                </a:rPr>
                <a:t>you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DAHGA8A3uv8</dc:identifier>
  <dcterms:modified xsi:type="dcterms:W3CDTF">2011-08-01T06:04:30Z</dcterms:modified>
  <cp:revision>1</cp:revision>
  <dc:title>Md Jahangir Alam</dc:title>
</cp:coreProperties>
</file>